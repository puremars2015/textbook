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502920"/>
            <a:ext cx="2560320" cy="2560320"/>
          </a:xfrm>
          <a:prstGeom prst="ellipse">
            <a:avLst/>
          </a:prstGeom>
          <a:solidFill>
            <a:srgbClr val="4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"/>
            <a:ext cx="1143000" cy="1143000"/>
          </a:xfrm>
          <a:prstGeom prst="ellipse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737360" cy="173736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21792"/>
            <a:ext cx="1901952" cy="384048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23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40664"/>
            <a:ext cx="16002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850" b="1">
                <a:solidFill>
                  <a:srgbClr val="23D3C6"/>
                </a:solidFill>
                <a:latin typeface="Aptos Display"/>
              </a:defRPr>
            </a:pPr>
            <a:r>
              <a:t>AI ASSISTANT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5400" b="1">
                <a:solidFill>
                  <a:srgbClr val="F5F8FF"/>
                </a:solidFill>
                <a:latin typeface="Microsoft JhengHei"/>
              </a:defRPr>
            </a:pPr>
            <a:r>
              <a:t>OpenClaw</a:t>
            </a:r>
            <a:br/>
            <a:r>
              <a:t>的優勢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86200"/>
            <a:ext cx="6400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0">
                <a:solidFill>
                  <a:srgbClr val="ACBAD2"/>
                </a:solidFill>
                <a:latin typeface="Microsoft JhengHei"/>
              </a:defRPr>
            </a:pPr>
            <a:r>
              <a:t>從聊天工具進化成可長期運作、可分工、可自動化的 AI 作業平台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800600"/>
            <a:ext cx="2926080" cy="502920"/>
          </a:xfrm>
          <a:prstGeom prst="roundRect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956048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081023"/>
                </a:solidFill>
                <a:latin typeface="Microsoft JhengHei"/>
              </a:defRPr>
            </a:pPr>
            <a:r>
              <a:t>打造你的 AI 助理平台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72768"/>
            <a:ext cx="3520440" cy="3566160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4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2029968"/>
            <a:ext cx="2468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t>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74320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000" b="1">
                <a:solidFill>
                  <a:srgbClr val="23D3C6"/>
                </a:solidFill>
                <a:latin typeface="Aptos Display"/>
              </a:defRPr>
            </a:pPr>
            <a:r>
              <a:t>Model + Skill + Channel</a:t>
            </a:r>
            <a:br/>
            <a:r>
              <a:t>+ Cron +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977639"/>
            <a:ext cx="2514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500" b="0">
                <a:solidFill>
                  <a:srgbClr val="ACBAD2"/>
                </a:solidFill>
                <a:latin typeface="Microsoft JhengHei"/>
              </a:defRPr>
            </a:pPr>
            <a:r>
              <a:t>把 AI 能力接到實際工作流程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ACBAD2"/>
                </a:solidFill>
                <a:latin typeface="Aptos Display"/>
              </a:defRPr>
            </a:pPr>
            <a:r>
              <a:t>OpenClaw 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ACBAD2"/>
                </a:solidFill>
                <a:latin typeface="Aptos Display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502920"/>
            <a:ext cx="2560320" cy="2560320"/>
          </a:xfrm>
          <a:prstGeom prst="ellipse">
            <a:avLst/>
          </a:prstGeom>
          <a:solidFill>
            <a:srgbClr val="4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"/>
            <a:ext cx="1143000" cy="1143000"/>
          </a:xfrm>
          <a:prstGeom prst="ellipse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737360" cy="173736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23D3C6"/>
                </a:solidFill>
                <a:latin typeface="Aptos Display"/>
              </a:defRPr>
            </a:pPr>
            <a:r>
              <a:t>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80467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Microsoft JhengHei"/>
              </a:defRPr>
            </a:pPr>
            <a:r>
              <a:t>OpenClaw 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44168"/>
            <a:ext cx="6858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>
                <a:solidFill>
                  <a:srgbClr val="ACBAD2"/>
                </a:solidFill>
                <a:latin typeface="Microsoft JhengHei"/>
              </a:defRPr>
            </a:pPr>
            <a:r>
              <a:t>不是單純聊天機器人，而是 AI Gateway 與個人 AI 中樞。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323088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23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203704"/>
            <a:ext cx="277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自架式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587752"/>
            <a:ext cx="2773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>
                <a:solidFill>
                  <a:srgbClr val="ACBAD2"/>
                </a:solidFill>
                <a:latin typeface="Microsoft JhengHei"/>
              </a:defRPr>
            </a:pPr>
            <a:r>
              <a:t>資料與流程可留在自己的電腦或伺服器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9872" y="1965960"/>
            <a:ext cx="323088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4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8472" y="2203704"/>
            <a:ext cx="277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多通路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8472" y="2587752"/>
            <a:ext cx="2773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>
                <a:solidFill>
                  <a:srgbClr val="ACBAD2"/>
                </a:solidFill>
                <a:latin typeface="Microsoft JhengHei"/>
              </a:defRPr>
            </a:pPr>
            <a:r>
              <a:t>可接 Telegram、Slack、Discord、LINE 等入口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5072" y="1965960"/>
            <a:ext cx="323088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3672" y="2203704"/>
            <a:ext cx="277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可擴充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3672" y="2587752"/>
            <a:ext cx="2773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>
                <a:solidFill>
                  <a:srgbClr val="ACBAD2"/>
                </a:solidFill>
                <a:latin typeface="Microsoft JhengHei"/>
              </a:defRPr>
            </a:pPr>
            <a:r>
              <a:t>接上模型、Skill、排程與自訂流程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ACBAD2"/>
                </a:solidFill>
                <a:latin typeface="Aptos Display"/>
              </a:defRPr>
            </a:pPr>
            <a:r>
              <a:t>OpenClaw Advantages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ACBAD2"/>
                </a:solidFill>
                <a:latin typeface="Aptos Display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502920"/>
            <a:ext cx="2560320" cy="2560320"/>
          </a:xfrm>
          <a:prstGeom prst="ellipse">
            <a:avLst/>
          </a:prstGeom>
          <a:solidFill>
            <a:srgbClr val="4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"/>
            <a:ext cx="1143000" cy="1143000"/>
          </a:xfrm>
          <a:prstGeom prst="ellipse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737360" cy="173736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23D3C6"/>
                </a:solidFill>
                <a:latin typeface="Aptos Display"/>
              </a:defRPr>
            </a:pPr>
            <a:r>
              <a:t>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80467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Microsoft JhengHei"/>
              </a:defRPr>
            </a:pPr>
            <a:r>
              <a:t>五大核心優勢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653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23D3C6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810512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自架式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28800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資料與流程留在內部環境，降低外流風險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532888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7066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4D8B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多通路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70048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整合通訊平台，成為統一 AI 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374136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54787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9370DB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493008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工具化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511296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讀檔、執行指令、查資料、呼叫技能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215384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891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6FE897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334256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多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352544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客服、研發、監控與研究各自分工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056632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230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FFB84D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5175504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自動化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193792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cron、heartbeat、webhook 主動運作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7395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ACBAD2"/>
                </a:solidFill>
                <a:latin typeface="Aptos Display"/>
              </a:defRPr>
            </a:pPr>
            <a:r>
              <a:t>OpenClaw Advantages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ACBAD2"/>
                </a:solidFill>
                <a:latin typeface="Aptos Display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502920"/>
            <a:ext cx="2560320" cy="2560320"/>
          </a:xfrm>
          <a:prstGeom prst="ellipse">
            <a:avLst/>
          </a:prstGeom>
          <a:solidFill>
            <a:srgbClr val="4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"/>
            <a:ext cx="1143000" cy="1143000"/>
          </a:xfrm>
          <a:prstGeom prst="ellipse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737360" cy="173736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23D3C6"/>
                </a:solidFill>
                <a:latin typeface="Aptos Display"/>
              </a:defRPr>
            </a:pPr>
            <a: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78638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Microsoft JhengHei"/>
              </a:defRPr>
            </a:pPr>
            <a:r>
              <a:t>OpenClaw vs 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847088"/>
            <a:ext cx="4983480" cy="3657600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847088"/>
            <a:ext cx="4983480" cy="3657600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23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762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  <a:latin typeface="Aptos Display"/>
              </a:defRPr>
            </a:pPr>
            <a:r>
              <a:t>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17627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23D3C6"/>
                </a:solidFill>
                <a:latin typeface="Aptos Display"/>
              </a:defRPr>
            </a:pPr>
            <a:r>
              <a:t>OpenClaw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8036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CBAD2"/>
                </a:solidFill>
                <a:latin typeface="Microsoft JhengHei"/>
              </a:defRPr>
            </a:pPr>
            <a:r>
              <a:t>• ChatGPT：單點聊天介面，偏向一次性互動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288036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CBAD2"/>
                </a:solidFill>
                <a:latin typeface="Microsoft JhengHei"/>
              </a:defRPr>
            </a:pPr>
            <a:r>
              <a:t>• OpenClaw：可長期運作的 AI 作業平台</a:t>
            </a:r>
          </a:p>
          <a:p>
            <a:pPr>
              <a:spcAft>
                <a:spcPts val="1000"/>
              </a:spcAft>
              <a:defRPr sz="1800">
                <a:solidFill>
                  <a:srgbClr val="ACBAD2"/>
                </a:solidFill>
                <a:latin typeface="Microsoft JhengHei"/>
              </a:defRPr>
            </a:pPr>
            <a:r>
              <a:t>• 模型 = 大腦，Gateway = 中控主機</a:t>
            </a:r>
          </a:p>
          <a:p>
            <a:pPr>
              <a:spcAft>
                <a:spcPts val="1000"/>
              </a:spcAft>
              <a:defRPr sz="1800">
                <a:solidFill>
                  <a:srgbClr val="ACBAD2"/>
                </a:solidFill>
                <a:latin typeface="Microsoft JhengHei"/>
              </a:defRPr>
            </a:pPr>
            <a:r>
              <a:t>• Skill = 技能模組，Channel = 外部管道</a:t>
            </a:r>
          </a:p>
          <a:p>
            <a:pPr>
              <a:spcAft>
                <a:spcPts val="1000"/>
              </a:spcAft>
              <a:defRPr sz="1800">
                <a:solidFill>
                  <a:srgbClr val="ACBAD2"/>
                </a:solidFill>
                <a:latin typeface="Microsoft JhengHei"/>
              </a:defRPr>
            </a:pPr>
            <a:r>
              <a:t>• cron / heartbeat = 自動巡邏與排程機制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273552"/>
            <a:ext cx="310896" cy="310896"/>
          </a:xfrm>
          <a:prstGeom prst="roundRect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1888" y="3300984"/>
            <a:ext cx="18288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081023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ACBAD2"/>
                </a:solidFill>
                <a:latin typeface="Aptos Display"/>
              </a:defRPr>
            </a:pPr>
            <a:r>
              <a:t>OpenClaw 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ACBAD2"/>
                </a:solidFill>
                <a:latin typeface="Aptos Display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502920"/>
            <a:ext cx="2560320" cy="2560320"/>
          </a:xfrm>
          <a:prstGeom prst="ellipse">
            <a:avLst/>
          </a:prstGeom>
          <a:solidFill>
            <a:srgbClr val="4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"/>
            <a:ext cx="1143000" cy="1143000"/>
          </a:xfrm>
          <a:prstGeom prst="ellipse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737360" cy="173736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23D3C6"/>
                </a:solidFill>
                <a:latin typeface="Aptos Display"/>
              </a:defRPr>
            </a:pPr>
            <a:r>
              <a:t>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80467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Microsoft JhengHei"/>
              </a:defRPr>
            </a:pPr>
            <a:r>
              <a:t>Skill 生態系統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44168"/>
            <a:ext cx="6858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>
                <a:solidFill>
                  <a:srgbClr val="ACBAD2"/>
                </a:solidFill>
                <a:latin typeface="Microsoft JhengHei"/>
              </a:defRPr>
            </a:pPr>
            <a:r>
              <a:t>把流程變成可重用、可分享、可持續優化的能力包。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484632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23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20370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Skill 是 OpenClaw 的能力說明書與操作流程包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62472" y="1965960"/>
            <a:ext cx="484632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4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20370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ClawHub 可搜尋並安裝各種技能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566160"/>
            <a:ext cx="484632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80390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重複流程標準化，能力可跨任務重用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2472" y="3566160"/>
            <a:ext cx="484632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6FE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380390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團隊能共享操作知識，Agent 更穩定調用工具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ACBAD2"/>
                </a:solidFill>
                <a:latin typeface="Aptos Display"/>
              </a:defRPr>
            </a:pPr>
            <a:r>
              <a:t>OpenClaw Advantages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ACBAD2"/>
                </a:solidFill>
                <a:latin typeface="Aptos Display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502920"/>
            <a:ext cx="2560320" cy="2560320"/>
          </a:xfrm>
          <a:prstGeom prst="ellipse">
            <a:avLst/>
          </a:prstGeom>
          <a:solidFill>
            <a:srgbClr val="4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"/>
            <a:ext cx="1143000" cy="1143000"/>
          </a:xfrm>
          <a:prstGeom prst="ellipse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737360" cy="173736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23D3C6"/>
                </a:solidFill>
                <a:latin typeface="Aptos Display"/>
              </a:defRPr>
            </a:pPr>
            <a:r>
              <a:t>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80467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Microsoft JhengHei"/>
              </a:defRPr>
            </a:pPr>
            <a:r>
              <a:t>自動化能力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44168"/>
            <a:ext cx="6858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>
                <a:solidFill>
                  <a:srgbClr val="ACBAD2"/>
                </a:solidFill>
                <a:latin typeface="Microsoft JhengHei"/>
              </a:defRPr>
            </a:pPr>
            <a:r>
              <a:t>從手動詢問，升級成定時、巡檢、背景分工。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484632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23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20370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cron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587752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>
                <a:solidFill>
                  <a:srgbClr val="ACBAD2"/>
                </a:solidFill>
                <a:latin typeface="Microsoft JhengHei"/>
              </a:defRPr>
            </a:pPr>
            <a:r>
              <a:t>每天早上自動生成晨報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2472" y="1965960"/>
            <a:ext cx="484632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4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20370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heartbeat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587752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>
                <a:solidFill>
                  <a:srgbClr val="ACBAD2"/>
                </a:solidFill>
                <a:latin typeface="Microsoft JhengHei"/>
              </a:defRPr>
            </a:pPr>
            <a:r>
              <a:t>固定頻率檢查是否有待辦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566160"/>
            <a:ext cx="484632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80390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SubAgent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4187952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>
                <a:solidFill>
                  <a:srgbClr val="ACBAD2"/>
                </a:solidFill>
                <a:latin typeface="Microsoft JhengHei"/>
              </a:defRPr>
            </a:pPr>
            <a:r>
              <a:t>長任務背景平行化處理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2472" y="3566160"/>
            <a:ext cx="4846320" cy="1170432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6FE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803904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Multi-Agent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87952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0">
                <a:solidFill>
                  <a:srgbClr val="ACBAD2"/>
                </a:solidFill>
                <a:latin typeface="Microsoft JhengHei"/>
              </a:defRPr>
            </a:pPr>
            <a:r>
              <a:t>客服、研發、監控各司其職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ACBAD2"/>
                </a:solidFill>
                <a:latin typeface="Aptos Display"/>
              </a:defRPr>
            </a:pPr>
            <a:r>
              <a:t>OpenClaw Advantages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ACBAD2"/>
                </a:solidFill>
                <a:latin typeface="Aptos Display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502920"/>
            <a:ext cx="2560320" cy="2560320"/>
          </a:xfrm>
          <a:prstGeom prst="ellipse">
            <a:avLst/>
          </a:prstGeom>
          <a:solidFill>
            <a:srgbClr val="4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"/>
            <a:ext cx="1143000" cy="1143000"/>
          </a:xfrm>
          <a:prstGeom prst="ellipse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737360" cy="173736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23D3C6"/>
                </a:solidFill>
                <a:latin typeface="Aptos Display"/>
              </a:defRPr>
            </a:pPr>
            <a:r>
              <a:t>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80467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Microsoft JhengHei"/>
              </a:defRPr>
            </a:pPr>
            <a:r>
              <a:t>實際應用場景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653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23D3C6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810512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個人工作助理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28800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統整待辦、彙整會議、產出草稿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532888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7066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4D8B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跨平台訊息中樞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70048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Telegram、Discord、Slack 統一入口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374136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54787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9370DB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493008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自動化報告機器人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511296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每日晨報、查郵件、發送摘要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215384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891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6FE897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334256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Google 工作流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352544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Gmail、Calendar、Sheets、Search 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ACBAD2"/>
                </a:solidFill>
                <a:latin typeface="Aptos Display"/>
              </a:defRPr>
            </a:pPr>
            <a:r>
              <a:t>OpenClaw Advantages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ACBAD2"/>
                </a:solidFill>
                <a:latin typeface="Aptos Display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502920"/>
            <a:ext cx="2560320" cy="2560320"/>
          </a:xfrm>
          <a:prstGeom prst="ellipse">
            <a:avLst/>
          </a:prstGeom>
          <a:solidFill>
            <a:srgbClr val="4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"/>
            <a:ext cx="1143000" cy="1143000"/>
          </a:xfrm>
          <a:prstGeom prst="ellipse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737360" cy="173736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00" b="1">
                <a:solidFill>
                  <a:srgbClr val="23D3C6"/>
                </a:solidFill>
                <a:latin typeface="Aptos Display"/>
              </a:defRPr>
            </a:pPr>
            <a:r>
              <a:t>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80467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Microsoft JhengHei"/>
              </a:defRPr>
            </a:pPr>
            <a:r>
              <a:t>小龍蝦軍團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44168"/>
            <a:ext cx="6858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>
                <a:solidFill>
                  <a:srgbClr val="ACBAD2"/>
                </a:solidFill>
                <a:latin typeface="Microsoft JhengHei"/>
              </a:defRPr>
            </a:pPr>
            <a:r>
              <a:t>用多 Agent 建立可分工、可監控、可擴充的 AI 團隊。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653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23D3C6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810512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main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28800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日常對話與總控回覆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32888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7066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4D8B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65176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ops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70048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巡檢、heartbeat、告警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74136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54787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9370DB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493008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research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511296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資料蒐集與報告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215384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3891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6FE897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334256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content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352544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文案、貼文、內容整理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056632"/>
            <a:ext cx="10744200" cy="603504"/>
          </a:xfrm>
          <a:prstGeom prst="roundRect">
            <a:avLst/>
          </a:prstGeom>
          <a:solidFill>
            <a:srgbClr val="142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230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1">
                <a:solidFill>
                  <a:srgbClr val="FFB84D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175504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Microsoft JhengHei"/>
              </a:defRPr>
            </a:pPr>
            <a:r>
              <a:t>google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5193792"/>
            <a:ext cx="6675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50" b="0">
                <a:solidFill>
                  <a:srgbClr val="ACBAD2"/>
                </a:solidFill>
                <a:latin typeface="Microsoft JhengHei"/>
              </a:defRPr>
            </a:pPr>
            <a:r>
              <a:t>Gmail、Calendar、Sheets 整合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7395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ACBAD2"/>
                </a:solidFill>
                <a:latin typeface="Aptos Display"/>
              </a:defRPr>
            </a:pPr>
            <a:r>
              <a:t>OpenClaw 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ACBAD2"/>
                </a:solidFill>
                <a:latin typeface="Aptos Display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502920"/>
            <a:ext cx="2560320" cy="2560320"/>
          </a:xfrm>
          <a:prstGeom prst="ellipse">
            <a:avLst/>
          </a:prstGeom>
          <a:solidFill>
            <a:srgbClr val="4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"/>
            <a:ext cx="1143000" cy="1143000"/>
          </a:xfrm>
          <a:prstGeom prst="ellipse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85800" y="5577840"/>
            <a:ext cx="1737360" cy="1737360"/>
          </a:xfrm>
          <a:prstGeom prst="ellipse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1">
                <a:solidFill>
                  <a:srgbClr val="23D3C6"/>
                </a:solidFill>
                <a:latin typeface="Microsoft JhengHei"/>
              </a:defRPr>
            </a:pPr>
            <a:r>
              <a:t>從今天開始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600" b="1">
                <a:solidFill>
                  <a:srgbClr val="F5F8FF"/>
                </a:solidFill>
                <a:latin typeface="Microsoft JhengHei"/>
              </a:defRPr>
            </a:pPr>
            <a:r>
              <a:t>把 AI 變成</a:t>
            </a:r>
            <a:br/>
            <a:r>
              <a:t>會工作的系統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33756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100" b="0">
                <a:solidFill>
                  <a:srgbClr val="ACBAD2"/>
                </a:solidFill>
                <a:latin typeface="Microsoft JhengHei"/>
              </a:defRPr>
            </a:pPr>
            <a:r>
              <a:t>OpenClaw 的真正價值，不只是把 AI 裝起來，而是把 AI 變成可長期運作、可分工、可監控、可自動化的工作系統。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700016"/>
            <a:ext cx="4297680" cy="566928"/>
          </a:xfrm>
          <a:prstGeom prst="roundRect">
            <a:avLst/>
          </a:prstGeom>
          <a:solidFill>
            <a:srgbClr val="23D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882896"/>
            <a:ext cx="3749039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50" b="1">
                <a:solidFill>
                  <a:srgbClr val="081023"/>
                </a:solidFill>
                <a:latin typeface="Aptos Display"/>
              </a:defRPr>
            </a:pPr>
            <a:r>
              <a:t>npm install -g openclaw@latest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3154680" cy="4206240"/>
          </a:xfrm>
          <a:prstGeom prst="roundRect">
            <a:avLst/>
          </a:prstGeom>
          <a:solidFill>
            <a:srgbClr val="142446"/>
          </a:solidFill>
          <a:ln w="15240">
            <a:solidFill>
              <a:srgbClr val="23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2057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5F8FF"/>
                </a:solidFill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514600"/>
            <a:ext cx="20116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ACBAD2"/>
                </a:solidFill>
                <a:latin typeface="Microsoft JhengHei"/>
              </a:defRPr>
            </a:pPr>
            <a:r>
              <a:t>• 能安裝</a:t>
            </a:r>
          </a:p>
          <a:p>
            <a:pPr>
              <a:spcAft>
                <a:spcPts val="1000"/>
              </a:spcAft>
              <a:defRPr sz="1800">
                <a:solidFill>
                  <a:srgbClr val="ACBAD2"/>
                </a:solidFill>
                <a:latin typeface="Microsoft JhengHei"/>
              </a:defRPr>
            </a:pPr>
            <a:r>
              <a:t>• 能啟動</a:t>
            </a:r>
          </a:p>
          <a:p>
            <a:pPr>
              <a:spcAft>
                <a:spcPts val="1000"/>
              </a:spcAft>
              <a:defRPr sz="1800">
                <a:solidFill>
                  <a:srgbClr val="ACBAD2"/>
                </a:solidFill>
                <a:latin typeface="Microsoft JhengHei"/>
              </a:defRPr>
            </a:pPr>
            <a:r>
              <a:t>• 能排錯</a:t>
            </a:r>
          </a:p>
          <a:p>
            <a:pPr>
              <a:spcAft>
                <a:spcPts val="1000"/>
              </a:spcAft>
              <a:defRPr sz="1800">
                <a:solidFill>
                  <a:srgbClr val="ACBAD2"/>
                </a:solidFill>
                <a:latin typeface="Microsoft JhengHei"/>
              </a:defRPr>
            </a:pPr>
            <a:r>
              <a:t>• 能加 Skill</a:t>
            </a:r>
          </a:p>
          <a:p>
            <a:pPr>
              <a:spcAft>
                <a:spcPts val="1000"/>
              </a:spcAft>
              <a:defRPr sz="1800">
                <a:solidFill>
                  <a:srgbClr val="ACBAD2"/>
                </a:solidFill>
                <a:latin typeface="Microsoft JhengHei"/>
              </a:defRPr>
            </a:pPr>
            <a:r>
              <a:t>• 能做自動化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50" b="0">
                <a:solidFill>
                  <a:srgbClr val="ACBAD2"/>
                </a:solidFill>
                <a:latin typeface="Aptos Display"/>
              </a:defRPr>
            </a:pPr>
            <a:r>
              <a:t>OpenClaw 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100" b="1">
                <a:solidFill>
                  <a:srgbClr val="ACBAD2"/>
                </a:solidFill>
                <a:latin typeface="Aptos Display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